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7"/>
  </p:notesMasterIdLst>
  <p:handoutMasterIdLst>
    <p:handoutMasterId r:id="rId18"/>
  </p:handoutMasterIdLst>
  <p:sldIdLst>
    <p:sldId id="256" r:id="rId5"/>
    <p:sldId id="259" r:id="rId6"/>
    <p:sldId id="267" r:id="rId7"/>
    <p:sldId id="262" r:id="rId8"/>
    <p:sldId id="263" r:id="rId9"/>
    <p:sldId id="264" r:id="rId10"/>
    <p:sldId id="265" r:id="rId11"/>
    <p:sldId id="266" r:id="rId12"/>
    <p:sldId id="268" r:id="rId13"/>
    <p:sldId id="269" r:id="rId14"/>
    <p:sldId id="270" r:id="rId15"/>
    <p:sldId id="26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84" d="100"/>
          <a:sy n="84" d="100"/>
        </p:scale>
        <p:origin x="658"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1" qsCatId="simple" csTypeId="urn:microsoft.com/office/officeart/2005/8/colors/accent2_2" csCatId="accent2" phldr="1"/>
      <dgm:spPr/>
      <dgm:t>
        <a:bodyPr/>
        <a:lstStyle/>
        <a:p>
          <a:endParaRPr lang="en-US"/>
        </a:p>
      </dgm:t>
    </dgm:pt>
    <dgm:pt modelId="{38D550EF-0959-4CE8-8742-D57AF6F9529B}">
      <dgm:prSet/>
      <dgm:spPr/>
      <dgm:t>
        <a:bodyPr/>
        <a:lstStyle/>
        <a:p>
          <a:pPr>
            <a:buNone/>
          </a:pPr>
          <a:r>
            <a:rPr lang="en-US" dirty="0"/>
            <a:t>Analyze bike sharing data to make recommendation for improving the business  model.</a:t>
          </a:r>
          <a:br>
            <a:rPr lang="en-IN" dirty="0"/>
          </a:br>
          <a:endParaRPr lang="en-IN" dirty="0"/>
        </a:p>
      </dgm:t>
    </dgm:pt>
    <dgm:pt modelId="{96EEC83A-20D1-4DD5-8195-9E0BE4A0024D}" type="parTrans" cxnId="{F51CFC4C-D7E5-4820-9424-D0A42BB4FB07}">
      <dgm:prSet/>
      <dgm:spPr/>
      <dgm:t>
        <a:bodyPr/>
        <a:lstStyle/>
        <a:p>
          <a:endParaRPr lang="en-IN"/>
        </a:p>
      </dgm:t>
    </dgm:pt>
    <dgm:pt modelId="{BD272B60-BD7E-4BCA-8D7F-7B2E88A595F3}" type="sibTrans" cxnId="{F51CFC4C-D7E5-4820-9424-D0A42BB4FB07}">
      <dgm:prSet/>
      <dgm:spPr/>
      <dgm:t>
        <a:bodyPr/>
        <a:lstStyle/>
        <a:p>
          <a:endParaRPr lang="en-IN"/>
        </a:p>
      </dgm:t>
    </dgm:pt>
    <dgm:pt modelId="{806694DF-C0EB-4708-A7B7-C80F5942D2E0}">
      <dgm:prSet/>
      <dgm:spPr/>
      <dgm:t>
        <a:bodyPr/>
        <a:lstStyle/>
        <a:p>
          <a:pPr>
            <a:buNone/>
          </a:pPr>
          <a:r>
            <a:rPr lang="en-IN" dirty="0"/>
            <a:t> Study the impact of weather, holidays, season, time on rentals </a:t>
          </a:r>
          <a:br>
            <a:rPr lang="en-IN" dirty="0"/>
          </a:br>
          <a:r>
            <a:rPr lang="en-IN" dirty="0"/>
            <a:t> identify trends that help improve bike availability and business planning.</a:t>
          </a:r>
          <a:br>
            <a:rPr lang="en-IN" dirty="0"/>
          </a:br>
          <a:endParaRPr lang="en-IN" dirty="0"/>
        </a:p>
      </dgm:t>
    </dgm:pt>
    <dgm:pt modelId="{96FFFC0E-ACE0-411B-86B4-75296BA5DFDC}" type="parTrans" cxnId="{EFF4C227-9617-4010-862A-C02337B07726}">
      <dgm:prSet/>
      <dgm:spPr/>
      <dgm:t>
        <a:bodyPr/>
        <a:lstStyle/>
        <a:p>
          <a:endParaRPr lang="en-IN"/>
        </a:p>
      </dgm:t>
    </dgm:pt>
    <dgm:pt modelId="{97CDCFB0-6DAD-47C3-BC2D-83E33056A552}" type="sibTrans" cxnId="{EFF4C227-9617-4010-862A-C02337B07726}">
      <dgm:prSet/>
      <dgm:spPr/>
      <dgm:t>
        <a:bodyPr/>
        <a:lstStyle/>
        <a:p>
          <a:endParaRPr lang="en-IN"/>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2"/>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2"/>
      <dgm:spPr/>
    </dgm:pt>
    <dgm:pt modelId="{429CABD1-4116-474B-81BF-735E2CA9DD00}" type="pres">
      <dgm:prSet presAssocID="{7E5AA53B-3EEE-4DE4-BB81-9044890C2946}" presName="dstNode" presStyleLbl="node1" presStyleIdx="0" presStyleCnt="2"/>
      <dgm:spPr/>
    </dgm:pt>
    <dgm:pt modelId="{B1EF98EE-0E2B-47C4-BEC5-0B7FD5C585EE}" type="pres">
      <dgm:prSet presAssocID="{806694DF-C0EB-4708-A7B7-C80F5942D2E0}" presName="text_1" presStyleLbl="node1" presStyleIdx="0" presStyleCnt="2">
        <dgm:presLayoutVars>
          <dgm:bulletEnabled val="1"/>
        </dgm:presLayoutVars>
      </dgm:prSet>
      <dgm:spPr/>
    </dgm:pt>
    <dgm:pt modelId="{D2FE4F6F-7F98-459E-BF48-44E0DE848C2C}" type="pres">
      <dgm:prSet presAssocID="{806694DF-C0EB-4708-A7B7-C80F5942D2E0}" presName="accent_1" presStyleCnt="0"/>
      <dgm:spPr/>
    </dgm:pt>
    <dgm:pt modelId="{7E41B333-CEBA-4CEA-A4AA-0B4254D5EA58}" type="pres">
      <dgm:prSet presAssocID="{806694DF-C0EB-4708-A7B7-C80F5942D2E0}" presName="accentRepeatNode" presStyleLbl="solidFgAcc1" presStyleIdx="0" presStyleCnt="2"/>
      <dgm:spPr/>
    </dgm:pt>
    <dgm:pt modelId="{1BCD25AD-4E91-4C37-91C8-3B37237010B6}" type="pres">
      <dgm:prSet presAssocID="{38D550EF-0959-4CE8-8742-D57AF6F9529B}" presName="text_2" presStyleLbl="node1" presStyleIdx="1" presStyleCnt="2">
        <dgm:presLayoutVars>
          <dgm:bulletEnabled val="1"/>
        </dgm:presLayoutVars>
      </dgm:prSet>
      <dgm:spPr/>
    </dgm:pt>
    <dgm:pt modelId="{649E15E2-E50A-4FD4-9BF3-1D9EF4A61103}" type="pres">
      <dgm:prSet presAssocID="{38D550EF-0959-4CE8-8742-D57AF6F9529B}" presName="accent_2" presStyleCnt="0"/>
      <dgm:spPr/>
    </dgm:pt>
    <dgm:pt modelId="{21E79E19-C4F2-475F-9DAA-137053E4EE75}" type="pres">
      <dgm:prSet presAssocID="{38D550EF-0959-4CE8-8742-D57AF6F9529B}" presName="accentRepeatNode" presStyleLbl="solidFgAcc1" presStyleIdx="1" presStyleCnt="2"/>
      <dgm:spPr/>
    </dgm:pt>
  </dgm:ptLst>
  <dgm:cxnLst>
    <dgm:cxn modelId="{406C6E0E-521B-4C1E-90E5-E8EB5A2495FA}" type="presOf" srcId="{97CDCFB0-6DAD-47C3-BC2D-83E33056A552}" destId="{D79B43FC-100B-4A0D-A4D5-0D2D04B99064}" srcOrd="0" destOrd="0" presId="urn:microsoft.com/office/officeart/2008/layout/VerticalCurvedList"/>
    <dgm:cxn modelId="{EFF4C227-9617-4010-862A-C02337B07726}" srcId="{7E5AA53B-3EEE-4DE4-BB81-9044890C2946}" destId="{806694DF-C0EB-4708-A7B7-C80F5942D2E0}" srcOrd="0" destOrd="0" parTransId="{96FFFC0E-ACE0-411B-86B4-75296BA5DFDC}" sibTransId="{97CDCFB0-6DAD-47C3-BC2D-83E33056A552}"/>
    <dgm:cxn modelId="{F51CFC4C-D7E5-4820-9424-D0A42BB4FB07}" srcId="{7E5AA53B-3EEE-4DE4-BB81-9044890C2946}" destId="{38D550EF-0959-4CE8-8742-D57AF6F9529B}" srcOrd="1" destOrd="0" parTransId="{96EEC83A-20D1-4DD5-8195-9E0BE4A0024D}" sibTransId="{BD272B60-BD7E-4BCA-8D7F-7B2E88A595F3}"/>
    <dgm:cxn modelId="{4F65CC8F-B5A8-40BE-A32B-05862B543D6A}" type="presOf" srcId="{7E5AA53B-3EEE-4DE4-BB81-9044890C2946}" destId="{57806726-6E60-4ACC-9C1C-7DF9CC365A10}" srcOrd="0" destOrd="0" presId="urn:microsoft.com/office/officeart/2008/layout/VerticalCurvedList"/>
    <dgm:cxn modelId="{5A55E09D-1015-4360-B8AD-2E2B827A3E43}" type="presOf" srcId="{38D550EF-0959-4CE8-8742-D57AF6F9529B}" destId="{1BCD25AD-4E91-4C37-91C8-3B37237010B6}" srcOrd="0" destOrd="0" presId="urn:microsoft.com/office/officeart/2008/layout/VerticalCurvedList"/>
    <dgm:cxn modelId="{22F4B5C0-07B9-4426-85F3-4A7A6BF0BC3A}" type="presOf" srcId="{806694DF-C0EB-4708-A7B7-C80F5942D2E0}" destId="{B1EF98EE-0E2B-47C4-BEC5-0B7FD5C585EE}"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5B3E4241-197D-41D1-AABB-66F96CF895B4}" type="presParOf" srcId="{90561C55-3C6E-4D53-85E1-2C50BCDDA392}" destId="{B1EF98EE-0E2B-47C4-BEC5-0B7FD5C585EE}" srcOrd="1" destOrd="0" presId="urn:microsoft.com/office/officeart/2008/layout/VerticalCurvedList"/>
    <dgm:cxn modelId="{00BF8783-7BE1-4359-902D-DECB2454DEA7}" type="presParOf" srcId="{90561C55-3C6E-4D53-85E1-2C50BCDDA392}" destId="{D2FE4F6F-7F98-459E-BF48-44E0DE848C2C}" srcOrd="2" destOrd="0" presId="urn:microsoft.com/office/officeart/2008/layout/VerticalCurvedList"/>
    <dgm:cxn modelId="{4972A3B5-442C-4AFC-837F-05FECD51BA07}" type="presParOf" srcId="{D2FE4F6F-7F98-459E-BF48-44E0DE848C2C}" destId="{7E41B333-CEBA-4CEA-A4AA-0B4254D5EA58}" srcOrd="0" destOrd="0" presId="urn:microsoft.com/office/officeart/2008/layout/VerticalCurvedList"/>
    <dgm:cxn modelId="{31DA24FC-EA27-426A-ADB9-73B949735D6A}" type="presParOf" srcId="{90561C55-3C6E-4D53-85E1-2C50BCDDA392}" destId="{1BCD25AD-4E91-4C37-91C8-3B37237010B6}" srcOrd="3" destOrd="0" presId="urn:microsoft.com/office/officeart/2008/layout/VerticalCurvedList"/>
    <dgm:cxn modelId="{88DC9887-A01B-447D-B051-4A838AAF695E}" type="presParOf" srcId="{90561C55-3C6E-4D53-85E1-2C50BCDDA392}" destId="{649E15E2-E50A-4FD4-9BF3-1D9EF4A61103}" srcOrd="4" destOrd="0" presId="urn:microsoft.com/office/officeart/2008/layout/VerticalCurvedList"/>
    <dgm:cxn modelId="{F7B48B65-F7C4-4964-B1BC-2A8367D0A2B3}" type="presParOf" srcId="{649E15E2-E50A-4FD4-9BF3-1D9EF4A61103}" destId="{21E79E19-C4F2-475F-9DAA-137053E4EE75}"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99676" y="-633679"/>
          <a:ext cx="4920149" cy="4920149"/>
        </a:xfrm>
        <a:prstGeom prst="blockArc">
          <a:avLst>
            <a:gd name="adj1" fmla="val 18900000"/>
            <a:gd name="adj2" fmla="val 2700000"/>
            <a:gd name="adj3" fmla="val 439"/>
          </a:avLst>
        </a:prstGeom>
        <a:noFill/>
        <a:ln w="22225"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EF98EE-0E2B-47C4-BEC5-0B7FD5C585EE}">
      <dsp:nvSpPr>
        <dsp:cNvPr id="0" name=""/>
        <dsp:cNvSpPr/>
      </dsp:nvSpPr>
      <dsp:spPr>
        <a:xfrm>
          <a:off x="671474" y="521837"/>
          <a:ext cx="6188350" cy="1043529"/>
        </a:xfrm>
        <a:prstGeom prst="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8301" tIns="40640" rIns="40640" bIns="40640" numCol="1" spcCol="1270" anchor="ctr" anchorCtr="0">
          <a:noAutofit/>
        </a:bodyPr>
        <a:lstStyle/>
        <a:p>
          <a:pPr marL="0" lvl="0" indent="0" algn="l" defTabSz="711200">
            <a:lnSpc>
              <a:spcPct val="90000"/>
            </a:lnSpc>
            <a:spcBef>
              <a:spcPct val="0"/>
            </a:spcBef>
            <a:spcAft>
              <a:spcPct val="35000"/>
            </a:spcAft>
            <a:buNone/>
          </a:pPr>
          <a:r>
            <a:rPr lang="en-IN" sz="1600" kern="1200" dirty="0"/>
            <a:t> Study the impact of weather, holidays, season, time on rentals </a:t>
          </a:r>
          <a:br>
            <a:rPr lang="en-IN" sz="1600" kern="1200" dirty="0"/>
          </a:br>
          <a:r>
            <a:rPr lang="en-IN" sz="1600" kern="1200" dirty="0"/>
            <a:t> identify trends that help improve bike availability and business planning.</a:t>
          </a:r>
          <a:br>
            <a:rPr lang="en-IN" sz="1600" kern="1200" dirty="0"/>
          </a:br>
          <a:endParaRPr lang="en-IN" sz="1600" kern="1200" dirty="0"/>
        </a:p>
      </dsp:txBody>
      <dsp:txXfrm>
        <a:off x="671474" y="521837"/>
        <a:ext cx="6188350" cy="1043529"/>
      </dsp:txXfrm>
    </dsp:sp>
    <dsp:sp modelId="{7E41B333-CEBA-4CEA-A4AA-0B4254D5EA58}">
      <dsp:nvSpPr>
        <dsp:cNvPr id="0" name=""/>
        <dsp:cNvSpPr/>
      </dsp:nvSpPr>
      <dsp:spPr>
        <a:xfrm>
          <a:off x="19268" y="391396"/>
          <a:ext cx="1304411" cy="1304411"/>
        </a:xfrm>
        <a:prstGeom prst="ellipse">
          <a:avLst/>
        </a:prstGeom>
        <a:solidFill>
          <a:schemeClr val="lt1">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CD25AD-4E91-4C37-91C8-3B37237010B6}">
      <dsp:nvSpPr>
        <dsp:cNvPr id="0" name=""/>
        <dsp:cNvSpPr/>
      </dsp:nvSpPr>
      <dsp:spPr>
        <a:xfrm>
          <a:off x="671474" y="2087423"/>
          <a:ext cx="6188350" cy="1043529"/>
        </a:xfrm>
        <a:prstGeom prst="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8301" tIns="40640" rIns="40640" bIns="40640" numCol="1" spcCol="1270" anchor="ctr" anchorCtr="0">
          <a:noAutofit/>
        </a:bodyPr>
        <a:lstStyle/>
        <a:p>
          <a:pPr marL="0" lvl="0" indent="0" algn="l" defTabSz="711200">
            <a:lnSpc>
              <a:spcPct val="90000"/>
            </a:lnSpc>
            <a:spcBef>
              <a:spcPct val="0"/>
            </a:spcBef>
            <a:spcAft>
              <a:spcPct val="35000"/>
            </a:spcAft>
            <a:buNone/>
          </a:pPr>
          <a:r>
            <a:rPr lang="en-US" sz="1600" kern="1200" dirty="0"/>
            <a:t>Analyze bike sharing data to make recommendation for improving the business  model.</a:t>
          </a:r>
          <a:br>
            <a:rPr lang="en-IN" sz="1600" kern="1200" dirty="0"/>
          </a:br>
          <a:endParaRPr lang="en-IN" sz="1600" kern="1200" dirty="0"/>
        </a:p>
      </dsp:txBody>
      <dsp:txXfrm>
        <a:off x="671474" y="2087423"/>
        <a:ext cx="6188350" cy="1043529"/>
      </dsp:txXfrm>
    </dsp:sp>
    <dsp:sp modelId="{21E79E19-C4F2-475F-9DAA-137053E4EE75}">
      <dsp:nvSpPr>
        <dsp:cNvPr id="0" name=""/>
        <dsp:cNvSpPr/>
      </dsp:nvSpPr>
      <dsp:spPr>
        <a:xfrm>
          <a:off x="19268" y="1956982"/>
          <a:ext cx="1304411" cy="1304411"/>
        </a:xfrm>
        <a:prstGeom prst="ellipse">
          <a:avLst/>
        </a:prstGeom>
        <a:solidFill>
          <a:schemeClr val="lt1">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7/24/2026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7/24/2026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2185298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12</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7/24/2026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7/24/2026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7/24/2026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7/24/2026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7/24/2026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7/24/2026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5400" dirty="0">
                <a:solidFill>
                  <a:schemeClr val="bg1"/>
                </a:solidFill>
              </a:rPr>
              <a:t>Bike rental demand Analysis</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768962"/>
          </a:xfrm>
        </p:spPr>
        <p:txBody>
          <a:bodyPr>
            <a:normAutofit/>
          </a:bodyPr>
          <a:lstStyle/>
          <a:p>
            <a:r>
              <a:rPr lang="en-US" dirty="0" err="1">
                <a:solidFill>
                  <a:srgbClr val="7CEBFF"/>
                </a:solidFill>
              </a:rPr>
              <a:t>Nexthikes</a:t>
            </a:r>
            <a:r>
              <a:rPr lang="en-US" dirty="0">
                <a:solidFill>
                  <a:srgbClr val="7CEBFF"/>
                </a:solidFill>
              </a:rPr>
              <a:t>  it solutions</a:t>
            </a:r>
          </a:p>
          <a:p>
            <a:r>
              <a:rPr lang="en-US" dirty="0">
                <a:solidFill>
                  <a:srgbClr val="7CEBFF"/>
                </a:solidFill>
              </a:rPr>
              <a:t>By Shivani </a:t>
            </a:r>
            <a:r>
              <a:rPr lang="en-US" dirty="0" err="1">
                <a:solidFill>
                  <a:srgbClr val="7CEBFF"/>
                </a:solidFill>
              </a:rPr>
              <a:t>sharma</a:t>
            </a:r>
            <a:endParaRPr lang="en-US"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anchor="ctr">
            <a:normAutofit/>
          </a:bodyPr>
          <a:lstStyle/>
          <a:p>
            <a:pPr algn="ctr"/>
            <a:r>
              <a:rPr lang="en-US" sz="6000" dirty="0"/>
              <a:t>Objective </a:t>
            </a:r>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1529795991"/>
              </p:ext>
            </p:extLst>
          </p:nvPr>
        </p:nvGraphicFramePr>
        <p:xfrm>
          <a:off x="719570" y="2198254"/>
          <a:ext cx="6879093" cy="36527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9322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76E3D-3C96-0688-D569-41854E34625A}"/>
              </a:ext>
            </a:extLst>
          </p:cNvPr>
          <p:cNvSpPr>
            <a:spLocks noGrp="1"/>
          </p:cNvSpPr>
          <p:nvPr>
            <p:ph type="title"/>
          </p:nvPr>
        </p:nvSpPr>
        <p:spPr>
          <a:xfrm>
            <a:off x="575894" y="729658"/>
            <a:ext cx="11029616" cy="696806"/>
          </a:xfrm>
        </p:spPr>
        <p:txBody>
          <a:bodyPr/>
          <a:lstStyle/>
          <a:p>
            <a:pPr algn="ctr"/>
            <a:r>
              <a:rPr lang="en-US" dirty="0"/>
              <a:t>Casual  vs  registered customers</a:t>
            </a:r>
            <a:endParaRPr lang="en-IN" dirty="0"/>
          </a:p>
        </p:txBody>
      </p:sp>
      <p:pic>
        <p:nvPicPr>
          <p:cNvPr id="4" name="Picture 3">
            <a:extLst>
              <a:ext uri="{FF2B5EF4-FFF2-40B4-BE49-F238E27FC236}">
                <a16:creationId xmlns:a16="http://schemas.microsoft.com/office/drawing/2014/main" id="{60BAAA73-D6B5-6AA7-CBBC-71427A0B7533}"/>
              </a:ext>
            </a:extLst>
          </p:cNvPr>
          <p:cNvPicPr>
            <a:picLocks noChangeAspect="1"/>
          </p:cNvPicPr>
          <p:nvPr/>
        </p:nvPicPr>
        <p:blipFill>
          <a:blip r:embed="rId2"/>
          <a:stretch>
            <a:fillRect/>
          </a:stretch>
        </p:blipFill>
        <p:spPr>
          <a:xfrm>
            <a:off x="581990" y="2488020"/>
            <a:ext cx="5890896" cy="3428147"/>
          </a:xfrm>
          <a:prstGeom prst="rect">
            <a:avLst/>
          </a:prstGeom>
          <a:ln>
            <a:solidFill>
              <a:schemeClr val="tx1"/>
            </a:solidFill>
          </a:ln>
        </p:spPr>
      </p:pic>
      <p:sp>
        <p:nvSpPr>
          <p:cNvPr id="7" name="TextBox 6">
            <a:extLst>
              <a:ext uri="{FF2B5EF4-FFF2-40B4-BE49-F238E27FC236}">
                <a16:creationId xmlns:a16="http://schemas.microsoft.com/office/drawing/2014/main" id="{A684FDEC-EF48-7454-CD7B-40398AB3D832}"/>
              </a:ext>
            </a:extLst>
          </p:cNvPr>
          <p:cNvSpPr txBox="1"/>
          <p:nvPr/>
        </p:nvSpPr>
        <p:spPr>
          <a:xfrm>
            <a:off x="6665976" y="2488019"/>
            <a:ext cx="4770882" cy="3693319"/>
          </a:xfrm>
          <a:prstGeom prst="rect">
            <a:avLst/>
          </a:prstGeom>
          <a:noFill/>
        </p:spPr>
        <p:txBody>
          <a:bodyPr wrap="square">
            <a:spAutoFit/>
          </a:bodyPr>
          <a:lstStyle/>
          <a:p>
            <a:r>
              <a:rPr lang="en-IN" dirty="0"/>
              <a:t>The bike rental dataset shows that registered users account for the majority of bike rentals. There were a total of 31,152 registered rentals compared to 2,746 casual rentals. </a:t>
            </a:r>
          </a:p>
          <a:p>
            <a:r>
              <a:rPr lang="en-IN" dirty="0"/>
              <a:t>Registered users contribute approximately 92% of total rentals, while casual users account for about 8%.</a:t>
            </a:r>
          </a:p>
          <a:p>
            <a:endParaRPr lang="en-IN" dirty="0"/>
          </a:p>
          <a:p>
            <a:r>
              <a:rPr lang="en-IN" b="1" dirty="0"/>
              <a:t>Key </a:t>
            </a:r>
            <a:r>
              <a:rPr lang="en-US" b="1" dirty="0"/>
              <a:t>Insight:</a:t>
            </a:r>
            <a:r>
              <a:rPr lang="en-US" dirty="0"/>
              <a:t> </a:t>
            </a:r>
            <a:r>
              <a:rPr lang="en-IN" dirty="0"/>
              <a:t>This indicates that the bike-sharing service is primarily used by regular customers, while casual users contribute a much smaller share of total demand.</a:t>
            </a:r>
          </a:p>
          <a:p>
            <a:endParaRPr lang="en-IN" dirty="0"/>
          </a:p>
        </p:txBody>
      </p:sp>
    </p:spTree>
    <p:extLst>
      <p:ext uri="{BB962C8B-B14F-4D97-AF65-F5344CB8AC3E}">
        <p14:creationId xmlns:p14="http://schemas.microsoft.com/office/powerpoint/2010/main" val="1160328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A2662-75A6-77DB-794C-830CEC8F1B51}"/>
              </a:ext>
            </a:extLst>
          </p:cNvPr>
          <p:cNvSpPr>
            <a:spLocks noGrp="1"/>
          </p:cNvSpPr>
          <p:nvPr>
            <p:ph type="title"/>
          </p:nvPr>
        </p:nvSpPr>
        <p:spPr/>
        <p:txBody>
          <a:bodyPr>
            <a:noAutofit/>
          </a:bodyPr>
          <a:lstStyle/>
          <a:p>
            <a:pPr algn="ctr"/>
            <a:r>
              <a:rPr lang="en-US" sz="6000" dirty="0"/>
              <a:t>Months vs rentals</a:t>
            </a:r>
            <a:endParaRPr lang="en-IN" sz="6000" dirty="0"/>
          </a:p>
        </p:txBody>
      </p:sp>
      <p:pic>
        <p:nvPicPr>
          <p:cNvPr id="5" name="Picture 4">
            <a:extLst>
              <a:ext uri="{FF2B5EF4-FFF2-40B4-BE49-F238E27FC236}">
                <a16:creationId xmlns:a16="http://schemas.microsoft.com/office/drawing/2014/main" id="{D3C8D42C-3A39-8992-8A58-0E3EF8FB230E}"/>
              </a:ext>
            </a:extLst>
          </p:cNvPr>
          <p:cNvPicPr>
            <a:picLocks noChangeAspect="1"/>
          </p:cNvPicPr>
          <p:nvPr/>
        </p:nvPicPr>
        <p:blipFill>
          <a:blip r:embed="rId3"/>
          <a:stretch>
            <a:fillRect/>
          </a:stretch>
        </p:blipFill>
        <p:spPr>
          <a:xfrm>
            <a:off x="448576" y="2270584"/>
            <a:ext cx="5570703" cy="4054191"/>
          </a:xfrm>
          <a:prstGeom prst="rect">
            <a:avLst/>
          </a:prstGeom>
          <a:ln>
            <a:solidFill>
              <a:schemeClr val="tx1"/>
            </a:solidFill>
          </a:ln>
        </p:spPr>
      </p:pic>
      <p:sp>
        <p:nvSpPr>
          <p:cNvPr id="10" name="TextBox 9">
            <a:extLst>
              <a:ext uri="{FF2B5EF4-FFF2-40B4-BE49-F238E27FC236}">
                <a16:creationId xmlns:a16="http://schemas.microsoft.com/office/drawing/2014/main" id="{4E09B40D-395C-0CD8-FB58-D481E0B58363}"/>
              </a:ext>
            </a:extLst>
          </p:cNvPr>
          <p:cNvSpPr txBox="1"/>
          <p:nvPr/>
        </p:nvSpPr>
        <p:spPr>
          <a:xfrm>
            <a:off x="6347084" y="2404872"/>
            <a:ext cx="4983480" cy="3693319"/>
          </a:xfrm>
          <a:prstGeom prst="rect">
            <a:avLst/>
          </a:prstGeom>
          <a:noFill/>
          <a:ln>
            <a:solidFill>
              <a:schemeClr val="bg1"/>
            </a:solidFill>
          </a:ln>
        </p:spPr>
        <p:txBody>
          <a:bodyPr wrap="square" rtlCol="0">
            <a:spAutoFit/>
          </a:bodyPr>
          <a:lstStyle/>
          <a:p>
            <a:r>
              <a:rPr lang="en-IN" b="1" dirty="0"/>
              <a:t>January:</a:t>
            </a:r>
            <a:r>
              <a:rPr lang="en-IN" dirty="0"/>
              <a:t> Lowest rentals (327 casual, 3,964 registered).</a:t>
            </a:r>
          </a:p>
          <a:p>
            <a:endParaRPr lang="en-IN" dirty="0"/>
          </a:p>
          <a:p>
            <a:r>
              <a:rPr lang="en-IN" b="1" dirty="0"/>
              <a:t>February:</a:t>
            </a:r>
            <a:r>
              <a:rPr lang="en-IN" dirty="0"/>
              <a:t> Strong increase in demand (1,848 casual, 18,267 registered). </a:t>
            </a:r>
          </a:p>
          <a:p>
            <a:endParaRPr lang="en-IN" dirty="0"/>
          </a:p>
          <a:p>
            <a:r>
              <a:rPr lang="en-IN" b="1" dirty="0"/>
              <a:t>Key Insight:</a:t>
            </a:r>
            <a:r>
              <a:rPr lang="en-IN" dirty="0"/>
              <a:t> Registered users dominate bike rentals, while casual rentals also increase as the year progresses. </a:t>
            </a:r>
          </a:p>
          <a:p>
            <a:endParaRPr lang="en-IN" dirty="0"/>
          </a:p>
          <a:p>
            <a:r>
              <a:rPr lang="en-IN" dirty="0"/>
              <a:t>This indicates that bike usage started growing after January, with registered users consistently contributing the majority of rentals.</a:t>
            </a:r>
          </a:p>
        </p:txBody>
      </p:sp>
      <p:sp>
        <p:nvSpPr>
          <p:cNvPr id="12" name="TextBox 11">
            <a:extLst>
              <a:ext uri="{FF2B5EF4-FFF2-40B4-BE49-F238E27FC236}">
                <a16:creationId xmlns:a16="http://schemas.microsoft.com/office/drawing/2014/main" id="{B8D41241-3765-F220-9579-42FC725BCA34}"/>
              </a:ext>
            </a:extLst>
          </p:cNvPr>
          <p:cNvSpPr txBox="1"/>
          <p:nvPr/>
        </p:nvSpPr>
        <p:spPr>
          <a:xfrm>
            <a:off x="1527048" y="2276857"/>
            <a:ext cx="1883664" cy="369332"/>
          </a:xfrm>
          <a:prstGeom prst="rect">
            <a:avLst/>
          </a:prstGeom>
          <a:noFill/>
        </p:spPr>
        <p:txBody>
          <a:bodyPr wrap="square" rtlCol="0">
            <a:spAutoFit/>
          </a:bodyPr>
          <a:lstStyle/>
          <a:p>
            <a:r>
              <a:rPr lang="en-US" dirty="0"/>
              <a:t>Rental VS Month</a:t>
            </a:r>
            <a:endParaRPr lang="en-IN" dirty="0"/>
          </a:p>
        </p:txBody>
      </p:sp>
    </p:spTree>
    <p:extLst>
      <p:ext uri="{BB962C8B-B14F-4D97-AF65-F5344CB8AC3E}">
        <p14:creationId xmlns:p14="http://schemas.microsoft.com/office/powerpoint/2010/main" val="74010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7A82-6AF0-375D-BEFA-7AD95167AE3C}"/>
              </a:ext>
            </a:extLst>
          </p:cNvPr>
          <p:cNvSpPr>
            <a:spLocks noGrp="1"/>
          </p:cNvSpPr>
          <p:nvPr>
            <p:ph type="title"/>
          </p:nvPr>
        </p:nvSpPr>
        <p:spPr>
          <a:xfrm>
            <a:off x="905256" y="804672"/>
            <a:ext cx="10700254" cy="640080"/>
          </a:xfrm>
        </p:spPr>
        <p:txBody>
          <a:bodyPr>
            <a:normAutofit fontScale="90000"/>
          </a:bodyPr>
          <a:lstStyle/>
          <a:p>
            <a:pPr algn="ctr"/>
            <a:r>
              <a:rPr lang="en-US" sz="4000" dirty="0"/>
              <a:t>Weather situation  vs rentals</a:t>
            </a:r>
            <a:endParaRPr lang="en-IN" sz="4000" dirty="0"/>
          </a:p>
        </p:txBody>
      </p:sp>
      <p:pic>
        <p:nvPicPr>
          <p:cNvPr id="6" name="Picture 5">
            <a:extLst>
              <a:ext uri="{FF2B5EF4-FFF2-40B4-BE49-F238E27FC236}">
                <a16:creationId xmlns:a16="http://schemas.microsoft.com/office/drawing/2014/main" id="{A03EA268-B560-DBDC-3E09-492D00FD8BE6}"/>
              </a:ext>
            </a:extLst>
          </p:cNvPr>
          <p:cNvPicPr>
            <a:picLocks noChangeAspect="1"/>
          </p:cNvPicPr>
          <p:nvPr/>
        </p:nvPicPr>
        <p:blipFill>
          <a:blip r:embed="rId2"/>
          <a:stretch>
            <a:fillRect/>
          </a:stretch>
        </p:blipFill>
        <p:spPr>
          <a:xfrm>
            <a:off x="681031" y="2251287"/>
            <a:ext cx="5802066" cy="3877055"/>
          </a:xfrm>
          <a:prstGeom prst="rect">
            <a:avLst/>
          </a:prstGeom>
          <a:ln>
            <a:solidFill>
              <a:schemeClr val="tx1"/>
            </a:solidFill>
          </a:ln>
        </p:spPr>
      </p:pic>
      <p:sp>
        <p:nvSpPr>
          <p:cNvPr id="7" name="TextBox 6">
            <a:extLst>
              <a:ext uri="{FF2B5EF4-FFF2-40B4-BE49-F238E27FC236}">
                <a16:creationId xmlns:a16="http://schemas.microsoft.com/office/drawing/2014/main" id="{029E0F06-00E1-83A6-02AA-9FE2FEBADD68}"/>
              </a:ext>
            </a:extLst>
          </p:cNvPr>
          <p:cNvSpPr txBox="1"/>
          <p:nvPr/>
        </p:nvSpPr>
        <p:spPr>
          <a:xfrm>
            <a:off x="6903720" y="2202851"/>
            <a:ext cx="4407408" cy="4062651"/>
          </a:xfrm>
          <a:prstGeom prst="rect">
            <a:avLst/>
          </a:prstGeom>
          <a:noFill/>
          <a:ln>
            <a:solidFill>
              <a:schemeClr val="bg1"/>
            </a:solidFill>
          </a:ln>
        </p:spPr>
        <p:txBody>
          <a:bodyPr wrap="square" rtlCol="0">
            <a:spAutoFit/>
          </a:bodyPr>
          <a:lstStyle/>
          <a:p>
            <a:r>
              <a:rPr lang="en-IN" sz="1600" b="1" dirty="0"/>
              <a:t>Nice Weather:</a:t>
            </a:r>
            <a:r>
              <a:rPr lang="en-IN" sz="1600" dirty="0"/>
              <a:t> Highest rentals (15,400), indicating ideal conditions for biking. </a:t>
            </a:r>
          </a:p>
          <a:p>
            <a:endParaRPr lang="en-IN" sz="1600" dirty="0"/>
          </a:p>
          <a:p>
            <a:r>
              <a:rPr lang="en-IN" sz="1600" b="1" dirty="0"/>
              <a:t>Mild Cloudy:</a:t>
            </a:r>
            <a:r>
              <a:rPr lang="en-IN" sz="1600" dirty="0"/>
              <a:t> Moderate rentals (7,680). </a:t>
            </a:r>
          </a:p>
          <a:p>
            <a:endParaRPr lang="en-IN" sz="1600" dirty="0"/>
          </a:p>
          <a:p>
            <a:r>
              <a:rPr lang="en-IN" sz="1600" b="1" dirty="0"/>
              <a:t>Dark Cloudy:</a:t>
            </a:r>
            <a:r>
              <a:rPr lang="en-IN" sz="1600" dirty="0"/>
              <a:t> Lowest rentals (1,326), showing that poor weather discourages bike usage. </a:t>
            </a:r>
          </a:p>
          <a:p>
            <a:endParaRPr lang="en-IN" sz="1600" dirty="0"/>
          </a:p>
          <a:p>
            <a:r>
              <a:rPr lang="en-IN" sz="1600" b="1" dirty="0"/>
              <a:t>Key Insight:</a:t>
            </a:r>
            <a:r>
              <a:rPr lang="en-IN" sz="1600" dirty="0"/>
              <a:t> Better weather leads to higher bike rental demand, and registered users make up the largest share of rentals in every weather condition.</a:t>
            </a:r>
          </a:p>
          <a:p>
            <a:endParaRPr lang="en-IN" sz="1600" dirty="0"/>
          </a:p>
          <a:p>
            <a:r>
              <a:rPr lang="en-IN" sz="1600" dirty="0"/>
              <a:t>This indicates that Bike rentals were highest during Nice Weather conditions, with a total of 15,400 rentals (13,832 registered and 1,568 casual users). </a:t>
            </a:r>
          </a:p>
          <a:p>
            <a:endParaRPr lang="en-IN" dirty="0"/>
          </a:p>
        </p:txBody>
      </p:sp>
    </p:spTree>
    <p:extLst>
      <p:ext uri="{BB962C8B-B14F-4D97-AF65-F5344CB8AC3E}">
        <p14:creationId xmlns:p14="http://schemas.microsoft.com/office/powerpoint/2010/main" val="1801470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06AA-8748-9919-6D2B-5DA49EBAC3D5}"/>
              </a:ext>
            </a:extLst>
          </p:cNvPr>
          <p:cNvSpPr>
            <a:spLocks noGrp="1"/>
          </p:cNvSpPr>
          <p:nvPr>
            <p:ph type="title"/>
          </p:nvPr>
        </p:nvSpPr>
        <p:spPr>
          <a:xfrm>
            <a:off x="575894" y="729658"/>
            <a:ext cx="11029616" cy="824822"/>
          </a:xfrm>
        </p:spPr>
        <p:txBody>
          <a:bodyPr>
            <a:normAutofit/>
          </a:bodyPr>
          <a:lstStyle/>
          <a:p>
            <a:pPr algn="ctr"/>
            <a:r>
              <a:rPr lang="en-US" sz="4000" dirty="0"/>
              <a:t>Humidity  VS Rentals</a:t>
            </a:r>
            <a:endParaRPr lang="en-IN" sz="4000" dirty="0"/>
          </a:p>
        </p:txBody>
      </p:sp>
      <p:pic>
        <p:nvPicPr>
          <p:cNvPr id="4" name="Picture 3">
            <a:extLst>
              <a:ext uri="{FF2B5EF4-FFF2-40B4-BE49-F238E27FC236}">
                <a16:creationId xmlns:a16="http://schemas.microsoft.com/office/drawing/2014/main" id="{4F495CE9-499C-3BC6-798C-77521E591C79}"/>
              </a:ext>
            </a:extLst>
          </p:cNvPr>
          <p:cNvPicPr>
            <a:picLocks noChangeAspect="1"/>
          </p:cNvPicPr>
          <p:nvPr/>
        </p:nvPicPr>
        <p:blipFill>
          <a:blip r:embed="rId2"/>
          <a:stretch>
            <a:fillRect/>
          </a:stretch>
        </p:blipFill>
        <p:spPr>
          <a:xfrm>
            <a:off x="575893" y="2408567"/>
            <a:ext cx="5605451" cy="3599041"/>
          </a:xfrm>
          <a:prstGeom prst="rect">
            <a:avLst/>
          </a:prstGeom>
          <a:ln>
            <a:solidFill>
              <a:schemeClr val="tx1"/>
            </a:solidFill>
          </a:ln>
        </p:spPr>
      </p:pic>
      <p:sp>
        <p:nvSpPr>
          <p:cNvPr id="5" name="TextBox 4">
            <a:extLst>
              <a:ext uri="{FF2B5EF4-FFF2-40B4-BE49-F238E27FC236}">
                <a16:creationId xmlns:a16="http://schemas.microsoft.com/office/drawing/2014/main" id="{677B8651-C2F5-EB04-D7E9-245159ED81A5}"/>
              </a:ext>
            </a:extLst>
          </p:cNvPr>
          <p:cNvSpPr txBox="1"/>
          <p:nvPr/>
        </p:nvSpPr>
        <p:spPr>
          <a:xfrm>
            <a:off x="6501384" y="2413337"/>
            <a:ext cx="5213854" cy="3416320"/>
          </a:xfrm>
          <a:prstGeom prst="rect">
            <a:avLst/>
          </a:prstGeom>
          <a:noFill/>
        </p:spPr>
        <p:txBody>
          <a:bodyPr wrap="square" rtlCol="0">
            <a:spAutoFit/>
          </a:bodyPr>
          <a:lstStyle/>
          <a:p>
            <a:r>
              <a:rPr lang="en-IN" dirty="0"/>
              <a:t>The analysis shows a positive relationship between temperature and bike rentals. As the temperature increases, both casual and registered bike rentals generally increase. Registered users consistently account for the majority of rentals across all temperature levels. The highest rental activity is observed at moderate to warm temperatures (around 0.56–1.00), while lower temperatures (0.21–0.35) have significantly fewer rentals.</a:t>
            </a:r>
          </a:p>
          <a:p>
            <a:endParaRPr lang="en-IN" dirty="0"/>
          </a:p>
          <a:p>
            <a:r>
              <a:rPr lang="en-IN" b="1" dirty="0"/>
              <a:t> Key Insides : </a:t>
            </a:r>
            <a:r>
              <a:rPr lang="en-IN" dirty="0"/>
              <a:t>This indicates that people are more likely to use bike-sharing services in warmer weather.</a:t>
            </a:r>
          </a:p>
        </p:txBody>
      </p:sp>
    </p:spTree>
    <p:extLst>
      <p:ext uri="{BB962C8B-B14F-4D97-AF65-F5344CB8AC3E}">
        <p14:creationId xmlns:p14="http://schemas.microsoft.com/office/powerpoint/2010/main" val="1705252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4CF40-42AB-DC0B-DD38-21896CCF23BC}"/>
              </a:ext>
            </a:extLst>
          </p:cNvPr>
          <p:cNvSpPr>
            <a:spLocks noGrp="1"/>
          </p:cNvSpPr>
          <p:nvPr>
            <p:ph type="title"/>
          </p:nvPr>
        </p:nvSpPr>
        <p:spPr/>
        <p:txBody>
          <a:bodyPr>
            <a:normAutofit/>
          </a:bodyPr>
          <a:lstStyle/>
          <a:p>
            <a:pPr algn="ctr"/>
            <a:r>
              <a:rPr lang="en-US" sz="4000" dirty="0"/>
              <a:t>Rental VS hour</a:t>
            </a:r>
            <a:endParaRPr lang="en-IN" sz="4000" dirty="0"/>
          </a:p>
        </p:txBody>
      </p:sp>
      <p:pic>
        <p:nvPicPr>
          <p:cNvPr id="4" name="Picture 3">
            <a:extLst>
              <a:ext uri="{FF2B5EF4-FFF2-40B4-BE49-F238E27FC236}">
                <a16:creationId xmlns:a16="http://schemas.microsoft.com/office/drawing/2014/main" id="{1416E4FB-1D19-219C-26AA-899978E103FC}"/>
              </a:ext>
            </a:extLst>
          </p:cNvPr>
          <p:cNvPicPr>
            <a:picLocks noChangeAspect="1"/>
          </p:cNvPicPr>
          <p:nvPr/>
        </p:nvPicPr>
        <p:blipFill>
          <a:blip r:embed="rId2"/>
          <a:stretch>
            <a:fillRect/>
          </a:stretch>
        </p:blipFill>
        <p:spPr>
          <a:xfrm>
            <a:off x="575894" y="2268568"/>
            <a:ext cx="6192788" cy="3309271"/>
          </a:xfrm>
          <a:prstGeom prst="rect">
            <a:avLst/>
          </a:prstGeom>
          <a:ln>
            <a:solidFill>
              <a:schemeClr val="tx1"/>
            </a:solidFill>
          </a:ln>
        </p:spPr>
      </p:pic>
      <p:sp>
        <p:nvSpPr>
          <p:cNvPr id="5" name="TextBox 4">
            <a:extLst>
              <a:ext uri="{FF2B5EF4-FFF2-40B4-BE49-F238E27FC236}">
                <a16:creationId xmlns:a16="http://schemas.microsoft.com/office/drawing/2014/main" id="{86FA912F-526C-52C7-08D2-E8C5400BC29A}"/>
              </a:ext>
            </a:extLst>
          </p:cNvPr>
          <p:cNvSpPr txBox="1"/>
          <p:nvPr/>
        </p:nvSpPr>
        <p:spPr>
          <a:xfrm>
            <a:off x="7095744" y="2386584"/>
            <a:ext cx="4509766" cy="3139321"/>
          </a:xfrm>
          <a:prstGeom prst="rect">
            <a:avLst/>
          </a:prstGeom>
          <a:noFill/>
        </p:spPr>
        <p:txBody>
          <a:bodyPr wrap="square" rtlCol="0">
            <a:spAutoFit/>
          </a:bodyPr>
          <a:lstStyle/>
          <a:p>
            <a:r>
              <a:rPr lang="en-IN" dirty="0"/>
              <a:t>The highest number of rentals occurs in the afternoon, with 8,511 registered users and 1,335 casual users. Morning and evening also experience strong demand, mainly from registered users, while night records the lowest rentals with only 767 registered and 86 casual users. </a:t>
            </a:r>
          </a:p>
          <a:p>
            <a:endParaRPr lang="en-IN" dirty="0"/>
          </a:p>
          <a:p>
            <a:r>
              <a:rPr lang="en-IN" b="1" dirty="0"/>
              <a:t>Key Insight </a:t>
            </a:r>
            <a:r>
              <a:rPr lang="en-IN" dirty="0"/>
              <a:t>: This </a:t>
            </a:r>
            <a:r>
              <a:rPr lang="en-US" dirty="0"/>
              <a:t>indicates</a:t>
            </a:r>
            <a:r>
              <a:rPr lang="en-IN" dirty="0"/>
              <a:t> that bike usage is highest during the daytime and decreases significantly at night.</a:t>
            </a:r>
          </a:p>
        </p:txBody>
      </p:sp>
    </p:spTree>
    <p:extLst>
      <p:ext uri="{BB962C8B-B14F-4D97-AF65-F5344CB8AC3E}">
        <p14:creationId xmlns:p14="http://schemas.microsoft.com/office/powerpoint/2010/main" val="3503278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431D9-A254-27D6-DAB0-93B2E90D920D}"/>
              </a:ext>
            </a:extLst>
          </p:cNvPr>
          <p:cNvSpPr>
            <a:spLocks noGrp="1"/>
          </p:cNvSpPr>
          <p:nvPr>
            <p:ph type="title"/>
          </p:nvPr>
        </p:nvSpPr>
        <p:spPr>
          <a:xfrm>
            <a:off x="575894" y="729658"/>
            <a:ext cx="11029616" cy="769958"/>
          </a:xfrm>
        </p:spPr>
        <p:txBody>
          <a:bodyPr/>
          <a:lstStyle/>
          <a:p>
            <a:pPr algn="ctr"/>
            <a:r>
              <a:rPr lang="en-US" dirty="0"/>
              <a:t>Windspeed  vs rentals</a:t>
            </a:r>
            <a:endParaRPr lang="en-IN" dirty="0"/>
          </a:p>
        </p:txBody>
      </p:sp>
      <p:pic>
        <p:nvPicPr>
          <p:cNvPr id="4" name="Picture 3">
            <a:extLst>
              <a:ext uri="{FF2B5EF4-FFF2-40B4-BE49-F238E27FC236}">
                <a16:creationId xmlns:a16="http://schemas.microsoft.com/office/drawing/2014/main" id="{6B6FD9B2-0C40-A8D0-0E3C-7A43A1838A5F}"/>
              </a:ext>
            </a:extLst>
          </p:cNvPr>
          <p:cNvPicPr>
            <a:picLocks noChangeAspect="1"/>
          </p:cNvPicPr>
          <p:nvPr/>
        </p:nvPicPr>
        <p:blipFill>
          <a:blip r:embed="rId2"/>
          <a:stretch>
            <a:fillRect/>
          </a:stretch>
        </p:blipFill>
        <p:spPr>
          <a:xfrm>
            <a:off x="575894" y="2385907"/>
            <a:ext cx="5667375" cy="3371850"/>
          </a:xfrm>
          <a:prstGeom prst="rect">
            <a:avLst/>
          </a:prstGeom>
          <a:ln>
            <a:solidFill>
              <a:schemeClr val="tx1"/>
            </a:solidFill>
          </a:ln>
        </p:spPr>
      </p:pic>
      <p:sp>
        <p:nvSpPr>
          <p:cNvPr id="7" name="TextBox 6">
            <a:extLst>
              <a:ext uri="{FF2B5EF4-FFF2-40B4-BE49-F238E27FC236}">
                <a16:creationId xmlns:a16="http://schemas.microsoft.com/office/drawing/2014/main" id="{13203D05-2F71-65F3-DB4D-5A4E1A682EDE}"/>
              </a:ext>
            </a:extLst>
          </p:cNvPr>
          <p:cNvSpPr txBox="1"/>
          <p:nvPr/>
        </p:nvSpPr>
        <p:spPr>
          <a:xfrm>
            <a:off x="6409943" y="2385907"/>
            <a:ext cx="5195567" cy="3693319"/>
          </a:xfrm>
          <a:prstGeom prst="rect">
            <a:avLst/>
          </a:prstGeom>
          <a:noFill/>
        </p:spPr>
        <p:txBody>
          <a:bodyPr wrap="square">
            <a:spAutoFit/>
          </a:bodyPr>
          <a:lstStyle/>
          <a:p>
            <a:r>
              <a:rPr lang="en-IN" dirty="0"/>
              <a:t>The highest rental activity is observed at low wind speed values (0.00–0.28), where registered users consistently exceed 2,300 rentals. As wind speed becomes stronger (above 0.35), both registered and casual rentals decline noticeably.  High wind conditions discourage people from using bike-sharing        services. </a:t>
            </a:r>
          </a:p>
          <a:p>
            <a:endParaRPr lang="en-IN" dirty="0"/>
          </a:p>
          <a:p>
            <a:r>
              <a:rPr lang="en-IN" b="1" dirty="0"/>
              <a:t>Key </a:t>
            </a:r>
            <a:r>
              <a:rPr lang="en-US" b="1" dirty="0"/>
              <a:t>Insight:  </a:t>
            </a:r>
            <a:r>
              <a:rPr lang="en-US" dirty="0"/>
              <a:t>This</a:t>
            </a:r>
            <a:r>
              <a:rPr lang="en-US" b="1" dirty="0"/>
              <a:t> </a:t>
            </a:r>
            <a:r>
              <a:rPr lang="en-IN" dirty="0"/>
              <a:t>indicates that bike rentals generally decrease as wind speed increases.  wind speed levels, registered users remain the primary contributors to total rentals.</a:t>
            </a:r>
          </a:p>
          <a:p>
            <a:endParaRPr lang="en-IN" b="1" dirty="0"/>
          </a:p>
        </p:txBody>
      </p:sp>
    </p:spTree>
    <p:extLst>
      <p:ext uri="{BB962C8B-B14F-4D97-AF65-F5344CB8AC3E}">
        <p14:creationId xmlns:p14="http://schemas.microsoft.com/office/powerpoint/2010/main" val="3857542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398D8-49E1-E24C-BD0E-07A2C99DD11A}"/>
              </a:ext>
            </a:extLst>
          </p:cNvPr>
          <p:cNvSpPr>
            <a:spLocks noGrp="1"/>
          </p:cNvSpPr>
          <p:nvPr>
            <p:ph type="title"/>
          </p:nvPr>
        </p:nvSpPr>
        <p:spPr>
          <a:xfrm>
            <a:off x="575894" y="729658"/>
            <a:ext cx="11029616" cy="687662"/>
          </a:xfrm>
        </p:spPr>
        <p:txBody>
          <a:bodyPr/>
          <a:lstStyle/>
          <a:p>
            <a:pPr algn="ctr"/>
            <a:r>
              <a:rPr lang="en-US" dirty="0"/>
              <a:t>Shifts  vs hour</a:t>
            </a:r>
            <a:endParaRPr lang="en-IN" dirty="0"/>
          </a:p>
        </p:txBody>
      </p:sp>
      <p:pic>
        <p:nvPicPr>
          <p:cNvPr id="4" name="Picture 3">
            <a:extLst>
              <a:ext uri="{FF2B5EF4-FFF2-40B4-BE49-F238E27FC236}">
                <a16:creationId xmlns:a16="http://schemas.microsoft.com/office/drawing/2014/main" id="{4E615580-C892-F3A0-399F-DE44A78E7ED6}"/>
              </a:ext>
            </a:extLst>
          </p:cNvPr>
          <p:cNvPicPr>
            <a:picLocks noChangeAspect="1"/>
          </p:cNvPicPr>
          <p:nvPr/>
        </p:nvPicPr>
        <p:blipFill>
          <a:blip r:embed="rId2"/>
          <a:stretch>
            <a:fillRect/>
          </a:stretch>
        </p:blipFill>
        <p:spPr>
          <a:xfrm>
            <a:off x="473964" y="2283333"/>
            <a:ext cx="5989938" cy="3157347"/>
          </a:xfrm>
          <a:prstGeom prst="rect">
            <a:avLst/>
          </a:prstGeom>
          <a:ln>
            <a:solidFill>
              <a:schemeClr val="tx1"/>
            </a:solidFill>
          </a:ln>
        </p:spPr>
      </p:pic>
      <p:sp>
        <p:nvSpPr>
          <p:cNvPr id="7" name="TextBox 6">
            <a:extLst>
              <a:ext uri="{FF2B5EF4-FFF2-40B4-BE49-F238E27FC236}">
                <a16:creationId xmlns:a16="http://schemas.microsoft.com/office/drawing/2014/main" id="{DB613093-7DA5-C635-EF8B-4CB38AFCCD1E}"/>
              </a:ext>
            </a:extLst>
          </p:cNvPr>
          <p:cNvSpPr txBox="1"/>
          <p:nvPr/>
        </p:nvSpPr>
        <p:spPr>
          <a:xfrm>
            <a:off x="6583680" y="2283332"/>
            <a:ext cx="5134356" cy="3416320"/>
          </a:xfrm>
          <a:prstGeom prst="rect">
            <a:avLst/>
          </a:prstGeom>
          <a:noFill/>
        </p:spPr>
        <p:txBody>
          <a:bodyPr wrap="square">
            <a:spAutoFit/>
          </a:bodyPr>
          <a:lstStyle/>
          <a:p>
            <a:pPr>
              <a:buNone/>
            </a:pPr>
            <a:endParaRPr lang="en-IN" dirty="0"/>
          </a:p>
          <a:p>
            <a:pPr>
              <a:buNone/>
            </a:pPr>
            <a:r>
              <a:rPr lang="en-IN" dirty="0"/>
              <a:t>The analysis shows that the afternoon has the highest cumulative temperature, making it the warmest period of the day. Morning and evening experience moderate temperatures, while night has the lowest overall temperature. These temperature patterns help explain why bike rental demand is typically higher during the daytime and lower at night, as riders generally prefer warmer and more comfortable weather conditions.</a:t>
            </a:r>
          </a:p>
          <a:p>
            <a:pPr>
              <a:buNone/>
            </a:pPr>
            <a:endParaRPr lang="en-IN" dirty="0"/>
          </a:p>
          <a:p>
            <a:pPr>
              <a:buNone/>
            </a:pPr>
            <a:endParaRPr lang="en-IN" dirty="0"/>
          </a:p>
        </p:txBody>
      </p:sp>
    </p:spTree>
    <p:extLst>
      <p:ext uri="{BB962C8B-B14F-4D97-AF65-F5344CB8AC3E}">
        <p14:creationId xmlns:p14="http://schemas.microsoft.com/office/powerpoint/2010/main" val="2934099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7B77-67FD-2051-D993-CD6A40417562}"/>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97B35D80-EB25-DC0B-AAFD-75FD3266A02A}"/>
              </a:ext>
            </a:extLst>
          </p:cNvPr>
          <p:cNvPicPr>
            <a:picLocks noChangeAspect="1"/>
          </p:cNvPicPr>
          <p:nvPr/>
        </p:nvPicPr>
        <p:blipFill>
          <a:blip r:embed="rId2"/>
          <a:stretch>
            <a:fillRect/>
          </a:stretch>
        </p:blipFill>
        <p:spPr>
          <a:xfrm>
            <a:off x="575894" y="2563255"/>
            <a:ext cx="5492408" cy="3096881"/>
          </a:xfrm>
          <a:prstGeom prst="rect">
            <a:avLst/>
          </a:prstGeom>
          <a:ln>
            <a:solidFill>
              <a:schemeClr val="tx1"/>
            </a:solidFill>
          </a:ln>
        </p:spPr>
      </p:pic>
      <p:sp>
        <p:nvSpPr>
          <p:cNvPr id="5" name="TextBox 4">
            <a:extLst>
              <a:ext uri="{FF2B5EF4-FFF2-40B4-BE49-F238E27FC236}">
                <a16:creationId xmlns:a16="http://schemas.microsoft.com/office/drawing/2014/main" id="{D9D3B679-F901-94FF-CFBE-40AB0CEAC7E8}"/>
              </a:ext>
            </a:extLst>
          </p:cNvPr>
          <p:cNvSpPr txBox="1"/>
          <p:nvPr/>
        </p:nvSpPr>
        <p:spPr>
          <a:xfrm>
            <a:off x="6373368" y="1975105"/>
            <a:ext cx="4800600" cy="4524315"/>
          </a:xfrm>
          <a:prstGeom prst="rect">
            <a:avLst/>
          </a:prstGeom>
          <a:noFill/>
        </p:spPr>
        <p:txBody>
          <a:bodyPr wrap="square" rtlCol="0">
            <a:spAutoFit/>
          </a:bodyPr>
          <a:lstStyle/>
          <a:p>
            <a:r>
              <a:rPr lang="en-IN" dirty="0"/>
              <a:t>The analysis of average temperature by weekday shows noticeable variation throughout the week. Saturday recorded the highest average temperature (19.46°C), followed closely by Tuesday (19.22°C) and Friday (19.18°C). In contrast, Sunday had the lowest average temperature (14.40°C).. Temperatures remained moderate during the week, with warmer conditions toward the end of the week, which may contribute to increased outdoor activities such as bike rentals.</a:t>
            </a:r>
          </a:p>
          <a:p>
            <a:endParaRPr lang="en-IN" dirty="0"/>
          </a:p>
          <a:p>
            <a:r>
              <a:rPr lang="en-IN" b="1" dirty="0"/>
              <a:t>Key Insight</a:t>
            </a:r>
            <a:r>
              <a:rPr lang="en-IN" dirty="0"/>
              <a:t>: Warmer days can encourage higher bike rental demand, while cooler days may result in comparatively lower usage.</a:t>
            </a:r>
          </a:p>
          <a:p>
            <a:endParaRPr lang="en-IN" b="1" dirty="0"/>
          </a:p>
        </p:txBody>
      </p:sp>
    </p:spTree>
    <p:extLst>
      <p:ext uri="{BB962C8B-B14F-4D97-AF65-F5344CB8AC3E}">
        <p14:creationId xmlns:p14="http://schemas.microsoft.com/office/powerpoint/2010/main" val="1465047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3A0CD-9BCD-FA89-EAC2-196B32C2D07F}"/>
              </a:ext>
            </a:extLst>
          </p:cNvPr>
          <p:cNvSpPr>
            <a:spLocks noGrp="1"/>
          </p:cNvSpPr>
          <p:nvPr>
            <p:ph type="title"/>
          </p:nvPr>
        </p:nvSpPr>
        <p:spPr>
          <a:xfrm>
            <a:off x="575894" y="729658"/>
            <a:ext cx="11029616" cy="815678"/>
          </a:xfrm>
        </p:spPr>
        <p:txBody>
          <a:bodyPr>
            <a:noAutofit/>
          </a:bodyPr>
          <a:lstStyle/>
          <a:p>
            <a:pPr algn="ctr"/>
            <a:r>
              <a:rPr lang="en-US" sz="4000" dirty="0"/>
              <a:t>Conclusion</a:t>
            </a:r>
            <a:endParaRPr lang="en-IN" sz="4000" dirty="0"/>
          </a:p>
        </p:txBody>
      </p:sp>
      <p:sp>
        <p:nvSpPr>
          <p:cNvPr id="4" name="TextBox 3">
            <a:extLst>
              <a:ext uri="{FF2B5EF4-FFF2-40B4-BE49-F238E27FC236}">
                <a16:creationId xmlns:a16="http://schemas.microsoft.com/office/drawing/2014/main" id="{53C20E2B-5E04-7A06-ED74-44F57BAAED8D}"/>
              </a:ext>
            </a:extLst>
          </p:cNvPr>
          <p:cNvSpPr txBox="1"/>
          <p:nvPr/>
        </p:nvSpPr>
        <p:spPr>
          <a:xfrm>
            <a:off x="583264" y="2187278"/>
            <a:ext cx="11029616" cy="3970318"/>
          </a:xfrm>
          <a:prstGeom prst="rect">
            <a:avLst/>
          </a:prstGeom>
          <a:noFill/>
        </p:spPr>
        <p:txBody>
          <a:bodyPr wrap="square">
            <a:spAutoFit/>
          </a:bodyPr>
          <a:lstStyle/>
          <a:p>
            <a:pPr>
              <a:buNone/>
            </a:pPr>
            <a:r>
              <a:rPr lang="en-IN" dirty="0"/>
              <a:t>The Bike Rental Demand Analysis shows that bike rental usage is influenced by a combination of weather conditions, temperature, wind speed, time of day, seasonality, and user type. The analysis reveals that registered users are the primary users of the bike-sharing system, This indicates that the service is mainly used by regular commuters rather than occasional riders. This suggests that users prefer riding during daylight hours when weather and visibility are more comfortable.</a:t>
            </a:r>
          </a:p>
          <a:p>
            <a:pPr>
              <a:buNone/>
            </a:pPr>
            <a:endParaRPr lang="en-IN" dirty="0"/>
          </a:p>
          <a:p>
            <a:pPr>
              <a:buNone/>
            </a:pPr>
            <a:r>
              <a:rPr lang="en-IN" dirty="0"/>
              <a:t>Monthly analysis indicates that rentals increased from January to February, showing the beginning of higher demand as weather conditions improved. Temperature analysis by weekday also shows that Saturday, Tuesday, and Friday were the warmest days, which may contribute to increased outdoor activities and bike usage.</a:t>
            </a:r>
          </a:p>
          <a:p>
            <a:pPr>
              <a:buNone/>
            </a:pPr>
            <a:endParaRPr lang="en-IN" dirty="0"/>
          </a:p>
          <a:p>
            <a:r>
              <a:rPr lang="en-IN" b="1" dirty="0"/>
              <a:t>"By </a:t>
            </a:r>
            <a:r>
              <a:rPr lang="en-IN" b="1" dirty="0" err="1"/>
              <a:t>analyzing</a:t>
            </a:r>
            <a:r>
              <a:rPr lang="en-IN" b="1" dirty="0"/>
              <a:t> customer </a:t>
            </a:r>
            <a:r>
              <a:rPr lang="en-IN" b="1" dirty="0" err="1"/>
              <a:t>behavior</a:t>
            </a:r>
            <a:r>
              <a:rPr lang="en-IN" b="1" dirty="0"/>
              <a:t> and environmental factors, bike-sharing companies can make informed decisions to improve service quality, increase customer satisfaction, and maximize rental demand."</a:t>
            </a:r>
            <a:endParaRPr lang="en-IN" dirty="0"/>
          </a:p>
          <a:p>
            <a:pPr>
              <a:buNone/>
            </a:pPr>
            <a:endParaRPr lang="en-IN" dirty="0"/>
          </a:p>
        </p:txBody>
      </p:sp>
    </p:spTree>
    <p:extLst>
      <p:ext uri="{BB962C8B-B14F-4D97-AF65-F5344CB8AC3E}">
        <p14:creationId xmlns:p14="http://schemas.microsoft.com/office/powerpoint/2010/main" val="3130454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r>
              <a:rPr lang="en-US" dirty="0" err="1">
                <a:solidFill>
                  <a:schemeClr val="bg2"/>
                </a:solidFill>
              </a:rPr>
              <a:t>Nexthikes</a:t>
            </a:r>
            <a:r>
              <a:rPr lang="en-US" dirty="0">
                <a:solidFill>
                  <a:schemeClr val="bg2"/>
                </a:solidFill>
              </a:rPr>
              <a:t> I t solution</a:t>
            </a:r>
          </a:p>
          <a:p>
            <a:endParaRPr lang="en-US" dirty="0">
              <a:solidFill>
                <a:schemeClr val="bg2"/>
              </a:solidFill>
            </a:endParaRPr>
          </a:p>
          <a:p>
            <a:endParaRPr lang="en-US" dirty="0">
              <a:solidFill>
                <a:schemeClr val="bg2"/>
              </a:solidFill>
            </a:endParaRPr>
          </a:p>
        </p:txBody>
      </p:sp>
      <p:sp>
        <p:nvSpPr>
          <p:cNvPr id="6" name="Rectangle 5">
            <a:extLst>
              <a:ext uri="{FF2B5EF4-FFF2-40B4-BE49-F238E27FC236}">
                <a16:creationId xmlns:a16="http://schemas.microsoft.com/office/drawing/2014/main" id="{DC099809-1474-EF9D-359C-8C035FB7B993}"/>
              </a:ext>
            </a:extLst>
          </p:cNvPr>
          <p:cNvSpPr/>
          <p:nvPr/>
        </p:nvSpPr>
        <p:spPr>
          <a:xfrm>
            <a:off x="566928" y="723899"/>
            <a:ext cx="7361731" cy="56666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B8FD2499-D14B-88D8-9C41-4AC6161E4D34}"/>
              </a:ext>
            </a:extLst>
          </p:cNvPr>
          <p:cNvSpPr txBox="1"/>
          <p:nvPr/>
        </p:nvSpPr>
        <p:spPr>
          <a:xfrm>
            <a:off x="886968" y="1088136"/>
            <a:ext cx="6787563" cy="3785652"/>
          </a:xfrm>
          <a:prstGeom prst="rect">
            <a:avLst/>
          </a:prstGeom>
          <a:noFill/>
        </p:spPr>
        <p:txBody>
          <a:bodyPr wrap="square" rtlCol="0">
            <a:spAutoFit/>
          </a:bodyPr>
          <a:lstStyle/>
          <a:p>
            <a:r>
              <a:rPr lang="en-US" sz="2400" dirty="0">
                <a:solidFill>
                  <a:schemeClr val="bg1"/>
                </a:solidFill>
              </a:rPr>
              <a:t>Here I came to the end of this project on the topic “BIKE RENTALS DEMANDS ANALYSIS.</a:t>
            </a:r>
          </a:p>
          <a:p>
            <a:endParaRPr lang="en-US" sz="2400" dirty="0">
              <a:solidFill>
                <a:schemeClr val="bg1"/>
              </a:solidFill>
            </a:endParaRPr>
          </a:p>
          <a:p>
            <a:r>
              <a:rPr lang="en-US" sz="2400" dirty="0">
                <a:solidFill>
                  <a:schemeClr val="bg1"/>
                </a:solidFill>
              </a:rPr>
              <a:t>I have shared my work while doing this project. I learnt many new things about this project and it wonderful learning experience for me while working on this project.</a:t>
            </a:r>
          </a:p>
          <a:p>
            <a:endParaRPr lang="en-US" sz="2400" dirty="0">
              <a:solidFill>
                <a:schemeClr val="bg1"/>
              </a:solidFill>
            </a:endParaRPr>
          </a:p>
          <a:p>
            <a:r>
              <a:rPr lang="en-US" sz="2400" dirty="0">
                <a:solidFill>
                  <a:schemeClr val="bg1"/>
                </a:solidFill>
              </a:rPr>
              <a:t>This project increased my research thinking skill and interest in this project.</a:t>
            </a:r>
            <a:endParaRPr lang="en-IN" sz="2400" dirty="0">
              <a:solidFill>
                <a:schemeClr val="bg1"/>
              </a:solidFill>
            </a:endParaRPr>
          </a:p>
        </p:txBody>
      </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413</TotalTime>
  <Words>946</Words>
  <Application>Microsoft Office PowerPoint</Application>
  <PresentationFormat>Widescreen</PresentationFormat>
  <Paragraphs>65</Paragraphs>
  <Slides>12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Gill Sans MT</vt:lpstr>
      <vt:lpstr>Wingdings 2</vt:lpstr>
      <vt:lpstr>Custom</vt:lpstr>
      <vt:lpstr>Bike rental demand Analysis</vt:lpstr>
      <vt:lpstr>Objective </vt:lpstr>
      <vt:lpstr>Casual  vs  registered customers</vt:lpstr>
      <vt:lpstr>Months vs rentals</vt:lpstr>
      <vt:lpstr>Weather situation  vs rentals</vt:lpstr>
      <vt:lpstr>Humidity  VS Rentals</vt:lpstr>
      <vt:lpstr>Rental VS hour</vt:lpstr>
      <vt:lpstr>Windspeed  vs rentals</vt:lpstr>
      <vt:lpstr>Shifts  vs hour</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praveen pathak</dc:creator>
  <cp:lastModifiedBy>praveen pathak</cp:lastModifiedBy>
  <cp:revision>17</cp:revision>
  <dcterms:created xsi:type="dcterms:W3CDTF">2026-07-20T13:39:07Z</dcterms:created>
  <dcterms:modified xsi:type="dcterms:W3CDTF">2026-07-24T08:24:20Z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